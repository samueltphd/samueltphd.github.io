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04477474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10447747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104477474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104477474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04477474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104477474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04477474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04477474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04477474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104477474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04477474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104477474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104477474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104477474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04477474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104477474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10794cea1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10794cea1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104477474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104477474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04477474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04477474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104477474a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104477474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104477474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104477474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04477474a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104477474a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10794cea1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10794cea1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Performance Study of Near-Memory Processing Under Garbage Collection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Samuel Thomas*, Jiwon Choe, Ofir Gordon, Erez Petrank, Tali Moreshet, Maurice Herlihy, R. Iris Bahar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Overview of Near-Memory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Overview of Garbage Collection in JDK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Proposed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Evaluation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Overview of Near-Memory Processing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Overview of Garbage Collection in JDK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Proposed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Evaluation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3474300" y="2814125"/>
            <a:ext cx="2195400" cy="162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DRAM </a:t>
            </a:r>
            <a:r>
              <a:rPr lang="en">
                <a:solidFill>
                  <a:schemeClr val="dk1"/>
                </a:solidFill>
              </a:rPr>
              <a:t>Vault</a:t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3474300" y="1893625"/>
            <a:ext cx="2195400" cy="50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Controller</a:t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4390950" y="239917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4390950" y="147867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1096250" y="754425"/>
            <a:ext cx="6951600" cy="72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5852350" y="2814125"/>
            <a:ext cx="2195400" cy="162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DRAM </a:t>
            </a:r>
            <a:r>
              <a:rPr lang="en">
                <a:solidFill>
                  <a:schemeClr val="dk1"/>
                </a:solidFill>
              </a:rPr>
              <a:t>Vault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5852350" y="1893625"/>
            <a:ext cx="2195400" cy="50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Controller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6769000" y="239917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6769000" y="147867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1096250" y="2814075"/>
            <a:ext cx="2195400" cy="162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DRAM </a:t>
            </a:r>
            <a:r>
              <a:rPr lang="en">
                <a:solidFill>
                  <a:schemeClr val="dk1"/>
                </a:solidFill>
              </a:rPr>
              <a:t>Vault</a:t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1096250" y="1893575"/>
            <a:ext cx="2195400" cy="50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Controller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2012900" y="239912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2012900" y="147862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3474300" y="2814125"/>
            <a:ext cx="2195400" cy="162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DRAM </a:t>
            </a:r>
            <a:r>
              <a:rPr lang="en">
                <a:solidFill>
                  <a:schemeClr val="dk1"/>
                </a:solidFill>
              </a:rPr>
              <a:t>Vault</a:t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3474300" y="1893625"/>
            <a:ext cx="2195400" cy="50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NMP</a:t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4390950" y="239917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4390950" y="147867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1096250" y="754425"/>
            <a:ext cx="6951600" cy="72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</a:t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5852350" y="2814125"/>
            <a:ext cx="2195400" cy="162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DRAM </a:t>
            </a:r>
            <a:r>
              <a:rPr lang="en">
                <a:solidFill>
                  <a:schemeClr val="dk1"/>
                </a:solidFill>
              </a:rPr>
              <a:t>Vault</a:t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5852350" y="1893625"/>
            <a:ext cx="2195400" cy="50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NMP</a:t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6769000" y="239917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6769000" y="147867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1096250" y="2814075"/>
            <a:ext cx="2195400" cy="162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DRAM </a:t>
            </a:r>
            <a:r>
              <a:rPr lang="en">
                <a:solidFill>
                  <a:schemeClr val="dk1"/>
                </a:solidFill>
              </a:rPr>
              <a:t>Vault</a:t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1096250" y="1893575"/>
            <a:ext cx="2195400" cy="50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NMP</a:t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2012900" y="239912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2012900" y="147862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Overview of Near-Memory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Overview of Garbage Collection in JDK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Proposed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Evaluation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Concluding Remarks</a:t>
            </a:r>
            <a:endParaRPr/>
          </a:p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600" y="152400"/>
            <a:ext cx="660280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Overview of Near-Memory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Overview of Garbage Collection in JDK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Proposed Solution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Evaluation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21"/>
          <p:cNvGrpSpPr/>
          <p:nvPr/>
        </p:nvGrpSpPr>
        <p:grpSpPr>
          <a:xfrm>
            <a:off x="171225" y="1280888"/>
            <a:ext cx="8801549" cy="1667324"/>
            <a:chOff x="171225" y="1738088"/>
            <a:chExt cx="8801549" cy="1667324"/>
          </a:xfrm>
        </p:grpSpPr>
        <p:pic>
          <p:nvPicPr>
            <p:cNvPr id="131" name="Google Shape;131;p21"/>
            <p:cNvPicPr preferRelativeResize="0"/>
            <p:nvPr/>
          </p:nvPicPr>
          <p:blipFill rotWithShape="1">
            <a:blip r:embed="rId3">
              <a:alphaModFix/>
            </a:blip>
            <a:srcRect b="11157" l="0" r="0" t="54384"/>
            <a:stretch/>
          </p:blipFill>
          <p:spPr>
            <a:xfrm>
              <a:off x="171225" y="1738088"/>
              <a:ext cx="8801549" cy="1667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21"/>
            <p:cNvSpPr/>
            <p:nvPr/>
          </p:nvSpPr>
          <p:spPr>
            <a:xfrm>
              <a:off x="4398475" y="2459525"/>
              <a:ext cx="739500" cy="309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Times New Roman"/>
                  <a:ea typeface="Times New Roman"/>
                  <a:cs typeface="Times New Roman"/>
                  <a:sym typeface="Times New Roman"/>
                </a:rPr>
                <a:t>NMP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3" name="Google Shape;133;p21"/>
          <p:cNvSpPr/>
          <p:nvPr/>
        </p:nvSpPr>
        <p:spPr>
          <a:xfrm rot="-1424448">
            <a:off x="3305167" y="1072856"/>
            <a:ext cx="362146" cy="53543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1727700" y="556700"/>
            <a:ext cx="1735200" cy="72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45% hit rate</a:t>
            </a:r>
            <a:endParaRPr/>
          </a:p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1"/>
          <p:cNvSpPr/>
          <p:nvPr/>
        </p:nvSpPr>
        <p:spPr>
          <a:xfrm rot="1712730">
            <a:off x="1533829" y="2674371"/>
            <a:ext cx="527983" cy="80452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334225" y="3409950"/>
            <a:ext cx="1735200" cy="72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95% hit rate</a:t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4058975" y="1425175"/>
            <a:ext cx="3096900" cy="152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21"/>
          <p:cNvCxnSpPr>
            <a:stCxn id="138" idx="1"/>
            <a:endCxn id="138" idx="3"/>
          </p:cNvCxnSpPr>
          <p:nvPr/>
        </p:nvCxnSpPr>
        <p:spPr>
          <a:xfrm>
            <a:off x="4058975" y="2186725"/>
            <a:ext cx="309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2"/>
          <p:cNvGrpSpPr/>
          <p:nvPr/>
        </p:nvGrpSpPr>
        <p:grpSpPr>
          <a:xfrm>
            <a:off x="171225" y="1280888"/>
            <a:ext cx="8801549" cy="1667324"/>
            <a:chOff x="171225" y="1738088"/>
            <a:chExt cx="8801549" cy="1667324"/>
          </a:xfrm>
        </p:grpSpPr>
        <p:pic>
          <p:nvPicPr>
            <p:cNvPr id="145" name="Google Shape;145;p22"/>
            <p:cNvPicPr preferRelativeResize="0"/>
            <p:nvPr/>
          </p:nvPicPr>
          <p:blipFill rotWithShape="1">
            <a:blip r:embed="rId3">
              <a:alphaModFix/>
            </a:blip>
            <a:srcRect b="11157" l="0" r="0" t="54384"/>
            <a:stretch/>
          </p:blipFill>
          <p:spPr>
            <a:xfrm>
              <a:off x="171225" y="1738088"/>
              <a:ext cx="8801549" cy="1667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22"/>
            <p:cNvSpPr/>
            <p:nvPr/>
          </p:nvSpPr>
          <p:spPr>
            <a:xfrm>
              <a:off x="4398475" y="2459525"/>
              <a:ext cx="739500" cy="309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Times New Roman"/>
                  <a:ea typeface="Times New Roman"/>
                  <a:cs typeface="Times New Roman"/>
                  <a:sym typeface="Times New Roman"/>
                </a:rPr>
                <a:t>NMP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4526725" y="2804850"/>
            <a:ext cx="498000" cy="7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/>
          <p:nvPr/>
        </p:nvSpPr>
        <p:spPr>
          <a:xfrm>
            <a:off x="499450" y="2804850"/>
            <a:ext cx="498000" cy="7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 txBox="1"/>
          <p:nvPr/>
        </p:nvSpPr>
        <p:spPr>
          <a:xfrm>
            <a:off x="377225" y="3583650"/>
            <a:ext cx="2799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Running the application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Running the sweep phase of garbage collection</a:t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4052925" y="3583650"/>
            <a:ext cx="2925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Running the marking phase of garbage collection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Otherwise idle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Overview of Near-Memory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Overview of Garbage Collection in JDK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Proposed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Evaluation</a:t>
            </a:r>
            <a:endParaRPr/>
          </a:p>
        </p:txBody>
      </p:sp>
      <p:sp>
        <p:nvSpPr>
          <p:cNvPr id="158" name="Google Shape;15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/>
          <p:nvPr/>
        </p:nvSpPr>
        <p:spPr>
          <a:xfrm>
            <a:off x="3474350" y="4191725"/>
            <a:ext cx="2195400" cy="80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DRAM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Vault - 2GB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3474350" y="2655575"/>
            <a:ext cx="2195400" cy="50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NMP (in order)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3857600" y="316112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1096250" y="1935925"/>
            <a:ext cx="6951600" cy="30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Memory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4391000" y="224062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4969700" y="3161125"/>
            <a:ext cx="271500" cy="41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3500300" y="3576075"/>
            <a:ext cx="986100" cy="36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I$ - 48kB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4612400" y="3576025"/>
            <a:ext cx="986100" cy="36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D$ - 32kB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3880250" y="3945925"/>
            <a:ext cx="271500" cy="24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4992350" y="3945925"/>
            <a:ext cx="271500" cy="24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3474350" y="123450"/>
            <a:ext cx="2195400" cy="43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CPU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(in order)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3857600" y="556298"/>
            <a:ext cx="271500" cy="210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4969700" y="556298"/>
            <a:ext cx="271500" cy="210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3500300" y="781091"/>
            <a:ext cx="986100" cy="31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I$ - 48kB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4612400" y="781048"/>
            <a:ext cx="986100" cy="31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D$ - 32kB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3880250" y="1097753"/>
            <a:ext cx="271500" cy="210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4992350" y="1097753"/>
            <a:ext cx="271500" cy="210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3653900" y="1308120"/>
            <a:ext cx="1836300" cy="31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L2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- 512MB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4391000" y="1624924"/>
            <a:ext cx="271500" cy="30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2882000" y="2489675"/>
            <a:ext cx="3289500" cy="1554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275" y="1215363"/>
            <a:ext cx="4472400" cy="271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25"/>
          <p:cNvGrpSpPr/>
          <p:nvPr/>
        </p:nvGrpSpPr>
        <p:grpSpPr>
          <a:xfrm>
            <a:off x="4855675" y="1215363"/>
            <a:ext cx="3905050" cy="2368636"/>
            <a:chOff x="4632350" y="1126125"/>
            <a:chExt cx="3905050" cy="2368636"/>
          </a:xfrm>
        </p:grpSpPr>
        <p:pic>
          <p:nvPicPr>
            <p:cNvPr id="190" name="Google Shape;190;p25" title="Chart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32350" y="1126125"/>
              <a:ext cx="3905049" cy="23686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25"/>
            <p:cNvSpPr txBox="1"/>
            <p:nvPr/>
          </p:nvSpPr>
          <p:spPr>
            <a:xfrm>
              <a:off x="8182800" y="1291750"/>
              <a:ext cx="354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h2</a:t>
              </a:r>
              <a:endParaRPr sz="800"/>
            </a:p>
          </p:txBody>
        </p:sp>
      </p:grpSp>
      <p:sp>
        <p:nvSpPr>
          <p:cNvPr id="192" name="Google Shape;19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038" y="914400"/>
            <a:ext cx="53435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038" y="914400"/>
            <a:ext cx="53435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7"/>
          <p:cNvSpPr/>
          <p:nvPr/>
        </p:nvSpPr>
        <p:spPr>
          <a:xfrm rot="1491">
            <a:off x="4282397" y="2411172"/>
            <a:ext cx="2074500" cy="377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7"/>
          <p:cNvSpPr/>
          <p:nvPr/>
        </p:nvSpPr>
        <p:spPr>
          <a:xfrm>
            <a:off x="6372375" y="2240850"/>
            <a:ext cx="2286000" cy="72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70% of L2 accesses occur in first iteration</a:t>
            </a:r>
            <a:endParaRPr/>
          </a:p>
        </p:txBody>
      </p:sp>
      <p:sp>
        <p:nvSpPr>
          <p:cNvPr id="206" name="Google Shape;206;p27"/>
          <p:cNvSpPr/>
          <p:nvPr/>
        </p:nvSpPr>
        <p:spPr>
          <a:xfrm rot="932344">
            <a:off x="4322326" y="3372002"/>
            <a:ext cx="1661844" cy="37739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7"/>
          <p:cNvSpPr/>
          <p:nvPr/>
        </p:nvSpPr>
        <p:spPr>
          <a:xfrm>
            <a:off x="5991875" y="3500700"/>
            <a:ext cx="2286000" cy="72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77% of L2 accesses occur in first iteration</a:t>
            </a:r>
            <a:endParaRPr/>
          </a:p>
        </p:txBody>
      </p:sp>
      <p:sp>
        <p:nvSpPr>
          <p:cNvPr id="208" name="Google Shape;20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Just-in-time compiler, etc…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Short-lived vs long-running applications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Hardware-software co-design</a:t>
            </a:r>
            <a:endParaRPr/>
          </a:p>
        </p:txBody>
      </p:sp>
      <p:sp>
        <p:nvSpPr>
          <p:cNvPr id="215" name="Google Shape;21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